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6" r:id="rId5"/>
    <p:sldId id="267" r:id="rId6"/>
    <p:sldId id="268" r:id="rId15"/>
    <p:sldId id="258" r:id="rId7"/>
  </p:sldIdLst>
  <p:sldSz cx="18288000" cy="10287000"/>
  <p:notesSz cx="6858000" cy="9144000"/>
  <p:embeddedFontLst>
    <p:embeddedFont>
      <p:font typeface="Inter Bold" panose="020B0802030000000004" charset="0"/>
      <p:regular r:id="rId11"/>
    </p:embeddedFont>
    <p:embeddedFont>
      <p:font typeface="Inter" panose="020B0502030000000004" charset="0"/>
      <p:regular r:id="rId12"/>
    </p:embeddedFont>
    <p:embeddedFont>
      <p:font typeface="Inter Light" panose="02000503000000020004" charset="0"/>
      <p:regular r:id="rId13"/>
    </p:embeddedFont>
    <p:embeddedFont>
      <p:font typeface="Inter Semi-Bold" panose="020005030000000200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38"/>
        <p:guide pos="28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sv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svg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70531" y="4636453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-2207895" y="1864995"/>
            <a:ext cx="10730230" cy="6619240"/>
            <a:chOff x="0" y="0"/>
            <a:chExt cx="3845413" cy="21342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45413" cy="2134298"/>
            </a:xfrm>
            <a:custGeom>
              <a:avLst/>
              <a:gdLst/>
              <a:ahLst/>
              <a:cxnLst/>
              <a:rect l="l" t="t" r="r" b="b"/>
              <a:pathLst>
                <a:path w="3845413" h="2134298">
                  <a:moveTo>
                    <a:pt x="0" y="0"/>
                  </a:moveTo>
                  <a:lnTo>
                    <a:pt x="3845413" y="0"/>
                  </a:lnTo>
                  <a:lnTo>
                    <a:pt x="3845413" y="2134298"/>
                  </a:lnTo>
                  <a:lnTo>
                    <a:pt x="0" y="2134298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845413" cy="218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5234940" y="1031240"/>
            <a:ext cx="1250950" cy="1520825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1</a:t>
            </a:r>
            <a:endParaRPr lang="en-US" sz="1800" spc="-72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377573" y="1214332"/>
            <a:ext cx="6213575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4400" b="1">
                <a:solidFill>
                  <a:srgbClr val="403E3E"/>
                </a:solidFill>
                <a:latin typeface="Inter Bold"/>
              </a:rPr>
              <a:t>MATERI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77573" y="2202611"/>
            <a:ext cx="6213575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600" b="1">
                <a:solidFill>
                  <a:srgbClr val="403E3E"/>
                </a:solidFill>
                <a:latin typeface="Inter Bold"/>
              </a:rPr>
              <a:t>STUDI KASUS NO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" y="2666390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KHANIN OKTAVIA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421" y="3747211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2313020019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" y="4724704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3-A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" y="5875934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PEMODELAN &amp; SIMULASI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926" y="3915460"/>
            <a:ext cx="9486900" cy="451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403E3E"/>
                </a:solidFill>
                <a:latin typeface="Inter Bold"/>
              </a:rPr>
              <a:t>SIMULASI SEGMENTASI PELANGGAN PADA MARKETPLACE OLIST BRASIL
MENGGUNAKAN ALGORITMA K-MEDOIDS (CLARA)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Tahap Data
  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Integrasi Data Transaksi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Penggabungan Data: Mengintegrasikan tabel data olist (customers, orders, order_items, dan order_payments) menggunakan relasi kunci unik.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Pbersihan Awal: Menyaring data transaksi yang sukses (status delivered atau invoiced) dan menghapus data tanpa pembayaran valid.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Hasil Integrasi: Menyatukan data mentah transaksional menjadi satu dataset pelanggan terpadu.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r>
              <a:rPr sz="1800">
                <a:solidFill>
                  <a:srgbClr val="403E3E"/>
                </a:solidFill>
                <a:latin typeface="Inter"/>
              </a:rPr>
              <a:t>PAGE 3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Tahap Data
  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Pembuatan Fitur RFM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Rekayasa Fitur Segmentasi:</a:t>
            </a:r>
          </a:p>
          <a:p>
            <a:pPr lvl="1">
              <a:spcAft>
                <a:spcPts val="1200"/>
              </a:spcAft>
              <a:defRPr sz="2400">
                <a:solidFill>
                  <a:srgbClr val="403E3E"/>
                </a:solidFill>
                <a:latin typeface="Inter"/>
              </a:defRPr>
            </a:pPr>
            <a:r>
              <a:t>- Recency (R): Jumlah hari sejak transaksi terakhir pelanggan hingga tanggal analisis terakhir.</a:t>
            </a:r>
          </a:p>
          <a:p>
            <a:pPr lvl="1">
              <a:spcAft>
                <a:spcPts val="1200"/>
              </a:spcAft>
              <a:defRPr sz="2400">
                <a:solidFill>
                  <a:srgbClr val="403E3E"/>
                </a:solidFill>
                <a:latin typeface="Inter"/>
              </a:defRPr>
            </a:pPr>
            <a:r>
              <a:t>- Frequency (F): Total jumlah pesanan unik yang diselesaikan oleh setiap pelanggan.</a:t>
            </a:r>
          </a:p>
          <a:p>
            <a:pPr lvl="1">
              <a:spcAft>
                <a:spcPts val="1200"/>
              </a:spcAft>
              <a:defRPr sz="2400">
                <a:solidFill>
                  <a:srgbClr val="403E3E"/>
                </a:solidFill>
                <a:latin typeface="Inter"/>
              </a:defRPr>
            </a:pPr>
            <a:r>
              <a:t>- Monetary (M): Akumulasi nominal uang yang dibelanjakan oleh pelanggan selama masa keanggotaan.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Hasil Profiling: Berhasil merangkum aktivitas belanja untuk 93.358 pelanggan unik.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r>
              <a:rPr sz="1800">
                <a:solidFill>
                  <a:srgbClr val="403E3E"/>
                </a:solidFill>
                <a:latin typeface="Inter"/>
              </a:rPr>
              <a:t>PAGE 4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Tahap Data
  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Outlier &amp; Penskalaan RFM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Penyaringan Pencilan: Menghapus pelanggan dengan nilai pembelian sangat ekstrem (di luar kuantil 5% s.d. 95%) agar kluster tidak bias oleh anomali reseller.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Feature Scaling: Menerapkan StandardScaler pada variabel R, F, dan M untuk menyamakan rentang nilai.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Justifikasi: Algoritma klustering berbasis jarak (jarak Euclidean) sangat sensitif terhadap satuan data yang timpang (Monetary ribuan vs Frequency satuan).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r>
              <a:rPr sz="1800">
                <a:solidFill>
                  <a:srgbClr val="403E3E"/>
                </a:solidFill>
                <a:latin typeface="Inter"/>
              </a:rPr>
              <a:t>PAGE 5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Tahap Data
  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Optimasi K (Metode Elbow)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Evaluasi K: Menguji jumlah kluster optimal K dari rentang 2 hingga 8 menggunakan sum sampel data.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Inersia (SSE): Menghitung jumlah kuadrat jarak kesalahan (Sum of Squared Errors) untuk setiap nilai K.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Hasil Titik Siku: Grafik inersia melandai secara signifikan (infleksi/elbow) pada titik K = 4.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Kesimpulan: Jumlah segmen optimal untuk segmentasi pelanggan Olist ditetapkan sebanyak K = 4 kluster.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7696504" y="3771900"/>
            <a:ext cx="7552944" cy="9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0" b="1" i="0">
                <a:solidFill>
                  <a:srgbClr val="403E3E"/>
                </a:solidFill>
                <a:latin typeface="Inter Semi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Presentation</Application>
  <PresentationFormat>On-screen Show (4:3)</PresentationFormat>
  <Paragraphs>14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SimSun</vt:lpstr>
      <vt:lpstr>Wingdings</vt:lpstr>
      <vt:lpstr>DejaVu Sans</vt:lpstr>
      <vt:lpstr>Inter Bold</vt:lpstr>
      <vt:lpstr>C059</vt:lpstr>
      <vt:lpstr>Inter</vt:lpstr>
      <vt:lpstr>Inter Light</vt:lpstr>
      <vt:lpstr>Microsoft YaHei</vt:lpstr>
      <vt:lpstr>Droid Sans Fallback</vt:lpstr>
      <vt:lpstr>Arial Unicode MS</vt:lpstr>
      <vt:lpstr>Calibri</vt:lpstr>
      <vt:lpstr>Inter Semi-Bold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Cream Clean and Simple Social Media Marketing Report Presentation</dc:title>
  <dc:creator/>
  <cp:lastModifiedBy>syelha</cp:lastModifiedBy>
  <cp:revision>3</cp:revision>
  <dcterms:created xsi:type="dcterms:W3CDTF">2026-06-11T06:43:12Z</dcterms:created>
  <dcterms:modified xsi:type="dcterms:W3CDTF">2026-06-11T06:43:12Z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