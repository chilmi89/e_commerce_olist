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6" r:id="rId5"/>
    <p:sldId id="267" r:id="rId6"/>
    <p:sldId id="258" r:id="rId7"/>
  </p:sldIdLst>
  <p:sldSz cx="18288000" cy="10287000"/>
  <p:notesSz cx="6858000" cy="9144000"/>
  <p:embeddedFontLst>
    <p:embeddedFont>
      <p:font typeface="Inter Bold" panose="020B0802030000000004" charset="0"/>
      <p:regular r:id="rId11"/>
    </p:embeddedFont>
    <p:embeddedFont>
      <p:font typeface="Inter" panose="020B0502030000000004" charset="0"/>
      <p:regular r:id="rId12"/>
    </p:embeddedFont>
    <p:embeddedFont>
      <p:font typeface="Inter Light" panose="02000503000000020004" charset="0"/>
      <p:regular r:id="rId13"/>
    </p:embeddedFont>
    <p:embeddedFont>
      <p:font typeface="Inter Semi-Bold" panose="020005030000000200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8"/>
        <p:guide pos="2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70531" y="4636453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-2207895" y="1864995"/>
            <a:ext cx="10730230" cy="6619240"/>
            <a:chOff x="0" y="0"/>
            <a:chExt cx="3845413" cy="21342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5413" cy="2134298"/>
            </a:xfrm>
            <a:custGeom>
              <a:avLst/>
              <a:gdLst/>
              <a:ahLst/>
              <a:cxnLst/>
              <a:rect l="l" t="t" r="r" b="b"/>
              <a:pathLst>
                <a:path w="3845413" h="2134298">
                  <a:moveTo>
                    <a:pt x="0" y="0"/>
                  </a:moveTo>
                  <a:lnTo>
                    <a:pt x="3845413" y="0"/>
                  </a:lnTo>
                  <a:lnTo>
                    <a:pt x="3845413" y="2134298"/>
                  </a:lnTo>
                  <a:lnTo>
                    <a:pt x="0" y="2134298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845413" cy="2181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>
            <a:off x="5234940" y="1031240"/>
            <a:ext cx="1250950" cy="1520825"/>
          </a:xfrm>
          <a:custGeom>
            <a:avLst/>
            <a:gdLst/>
            <a:ahLst/>
            <a:cxnLst/>
            <a:rect l="l" t="t" r="r" b="b"/>
            <a:pathLst>
              <a:path w="948381" h="1520727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PAGE 1</a:t>
            </a:r>
            <a:endParaRPr lang="en-US" sz="1800" spc="-72">
              <a:solidFill>
                <a:srgbClr val="403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77573" y="1214332"/>
            <a:ext cx="6213575" cy="75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4400" b="1">
                <a:solidFill>
                  <a:srgbClr val="403E3E"/>
                </a:solidFill>
                <a:latin typeface="Inter Bold"/>
              </a:rPr>
              <a:t>MATERI 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77573" y="2202611"/>
            <a:ext cx="62135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600" b="1">
                <a:solidFill>
                  <a:srgbClr val="403E3E"/>
                </a:solidFill>
                <a:latin typeface="Inter Bold"/>
              </a:rPr>
              <a:t>STUDI KASUS NO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" y="2666390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KHANIN OKTAVIA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" y="3747211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2313020019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" y="472470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3-A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" y="587593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PEMODELAN &amp; SIMULASI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926" y="3915460"/>
            <a:ext cx="9486900" cy="451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403E3E"/>
                </a:solidFill>
                <a:latin typeface="Inter Bold"/>
              </a:rPr>
              <a:t>SIMULASI SEGMENTASI PELANGGAN PADA MARKETPLACE OLIST BRASIL
MENGGUNAKAN ALGORITMA K-MEDOIDS (CLARA)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Integrasi Data Relasional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Data Ingestion &amp; Merging: Mengintegrasikan tabel transaksi Olist (pelanggan, pesanan, item, dan pembayaran) menjadi satu dataset utuh.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RFM Engineering: Membuat metrik RFM untuk setiap pelanggan unik: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Recency: Hari sejak transaksi terakhir.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Frequency: Jumlah pesanan yang diselesaikan.</a:t>
            </a:r>
          </a:p>
          <a:p>
            <a:pPr lvl="1"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- Monetary: Total pengeluaran uang belanja.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Hasil: Diperoleh profil transaksi RFM untuk 93.358 pelanggan unik.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3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Pembersihan &amp; Transformasi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Penyaringan Outlier: Membuang pencilan transaksi ekstrim (di luar kuantil 5% s.d. 95%) agar kluster tidak bias oleh pelanggan anomali.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Feature Scaling: Menerapkan StandardScaler pada metrik RFM.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Justifikasi: Penskalaan fitur sangat krusial karena algoritma clustering berbasis jarak (Euclidean) sangat sensitif terhadap perbedaan satuan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4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Tahap Data
   Engineering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Optimasi Nilai K (Elbow)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Metode Elbow: Menghitung nilai inersia (Sum of Squared Errors) untuk rentang kluster K = 2 s.d. K = 8 pada sampel data.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Hasil Grafik Elbow: Penurunan nilai inersia melambat secara signifikan pada titik K = 4 (titik siku-siku).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Kesimpulan: Jumlah kluster optimal yang direkomendasikan untuk segmentasi pelanggan Olist adalah K =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7696504" y="3771900"/>
            <a:ext cx="7552944" cy="926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0" b="1" i="0">
                <a:solidFill>
                  <a:srgbClr val="403E3E"/>
                </a:solidFill>
                <a:latin typeface="Inter Semi-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WPS Presentation</Application>
  <PresentationFormat>On-screen Show (4:3)</PresentationFormat>
  <Paragraphs>14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Inter Bold</vt:lpstr>
      <vt:lpstr>C059</vt:lpstr>
      <vt:lpstr>Inter</vt:lpstr>
      <vt:lpstr>Inter Light</vt:lpstr>
      <vt:lpstr>Microsoft YaHei</vt:lpstr>
      <vt:lpstr>Droid Sans Fallback</vt:lpstr>
      <vt:lpstr>Arial Unicode MS</vt:lpstr>
      <vt:lpstr>Calibri</vt:lpstr>
      <vt:lpstr>Inter Semi-Bold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Cream Clean and Simple Social Media Marketing Report Presentation</dc:title>
  <dc:creator/>
  <cp:lastModifiedBy>syelha</cp:lastModifiedBy>
  <cp:revision>3</cp:revision>
  <dcterms:created xsi:type="dcterms:W3CDTF">2026-06-11T06:43:12Z</dcterms:created>
  <dcterms:modified xsi:type="dcterms:W3CDTF">2026-06-11T06:43:12Z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