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66" r:id="rId5"/>
    <p:sldId id="267" r:id="rId6"/>
    <p:sldId id="268" r:id="rId15"/>
    <p:sldId id="258" r:id="rId7"/>
  </p:sldIdLst>
  <p:sldSz cx="18288000" cy="10287000"/>
  <p:notesSz cx="6858000" cy="9144000"/>
  <p:embeddedFontLst>
    <p:embeddedFont>
      <p:font typeface="Inter Bold" panose="020B0802030000000004" charset="0"/>
      <p:regular r:id="rId11"/>
    </p:embeddedFont>
    <p:embeddedFont>
      <p:font typeface="Inter" panose="020B0502030000000004" charset="0"/>
      <p:regular r:id="rId12"/>
    </p:embeddedFont>
    <p:embeddedFont>
      <p:font typeface="Inter Light" panose="02000503000000020004" charset="0"/>
      <p:regular r:id="rId13"/>
    </p:embeddedFont>
    <p:embeddedFont>
      <p:font typeface="Inter Semi-Bold" panose="020005030000000200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38"/>
        <p:guide pos="28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ableStyles" Target="tableStyles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svg"/><Relationship Id="rId3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svg"/><Relationship Id="rId3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2470531" y="4636453"/>
            <a:ext cx="10730064" cy="1076325"/>
            <a:chOff x="0" y="0"/>
            <a:chExt cx="3845413" cy="3857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5413" cy="385731"/>
            </a:xfrm>
            <a:custGeom>
              <a:avLst/>
              <a:gdLst/>
              <a:ahLst/>
              <a:cxnLst/>
              <a:rect l="l" t="t" r="r" b="b"/>
              <a:pathLst>
                <a:path w="3845413" h="385731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-2207895" y="1864995"/>
            <a:ext cx="10730230" cy="6619240"/>
            <a:chOff x="0" y="0"/>
            <a:chExt cx="3845413" cy="21342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845413" cy="2134298"/>
            </a:xfrm>
            <a:custGeom>
              <a:avLst/>
              <a:gdLst/>
              <a:ahLst/>
              <a:cxnLst/>
              <a:rect l="l" t="t" r="r" b="b"/>
              <a:pathLst>
                <a:path w="3845413" h="2134298">
                  <a:moveTo>
                    <a:pt x="0" y="0"/>
                  </a:moveTo>
                  <a:lnTo>
                    <a:pt x="3845413" y="0"/>
                  </a:lnTo>
                  <a:lnTo>
                    <a:pt x="3845413" y="2134298"/>
                  </a:lnTo>
                  <a:lnTo>
                    <a:pt x="0" y="2134298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3845413" cy="2181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id="8" name="Freeform 8"/>
          <p:cNvSpPr/>
          <p:nvPr/>
        </p:nvSpPr>
        <p:spPr>
          <a:xfrm>
            <a:off x="5234940" y="1031240"/>
            <a:ext cx="1250950" cy="1520825"/>
          </a:xfrm>
          <a:custGeom>
            <a:avLst/>
            <a:gdLst/>
            <a:ahLst/>
            <a:cxnLst/>
            <a:rect l="l" t="t" r="r" b="b"/>
            <a:pathLst>
              <a:path w="948381" h="1520727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12" name="TextBox 12"/>
          <p:cNvSpPr txBox="1"/>
          <p:nvPr/>
        </p:nvSpPr>
        <p:spPr>
          <a:xfrm>
            <a:off x="15506330" y="8951595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PAGE 1</a:t>
            </a:r>
            <a:endParaRPr lang="en-US" sz="1800" spc="-72">
              <a:solidFill>
                <a:srgbClr val="403E3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377573" y="1214332"/>
            <a:ext cx="6213575" cy="755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4400" b="1">
                <a:solidFill>
                  <a:srgbClr val="403E3E"/>
                </a:solidFill>
                <a:latin typeface="Inter Bold"/>
              </a:rPr>
              <a:t>MATERI 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77573" y="2202611"/>
            <a:ext cx="6213575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3600" b="1">
                <a:solidFill>
                  <a:srgbClr val="403E3E"/>
                </a:solidFill>
                <a:latin typeface="Inter Bold"/>
              </a:rPr>
              <a:t>STUDI KASUS NO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1421" y="2666390"/>
            <a:ext cx="6213348" cy="622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403E3E"/>
                </a:solidFill>
                <a:latin typeface="Inter Bold"/>
              </a:rPr>
              <a:t>ACHMAD CHILMI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1421" y="3747211"/>
            <a:ext cx="6213348" cy="622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403E3E"/>
                </a:solidFill>
                <a:latin typeface="Inter Bold"/>
              </a:rPr>
              <a:t>2313020023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1421" y="4724704"/>
            <a:ext cx="6213348" cy="622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403E3E"/>
                </a:solidFill>
                <a:latin typeface="Inter Bold"/>
              </a:rPr>
              <a:t>3-A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1421" y="5875934"/>
            <a:ext cx="6213348" cy="622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403E3E"/>
                </a:solidFill>
                <a:latin typeface="Inter Bold"/>
              </a:rPr>
              <a:t>PEMODELAN &amp; SIMULASI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4926" y="3915460"/>
            <a:ext cx="9486900" cy="451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 i="0">
                <a:solidFill>
                  <a:srgbClr val="403E3E"/>
                </a:solidFill>
                <a:latin typeface="Inter Bold"/>
              </a:rPr>
              <a:t>SIMULASI SEGMENTASI PELANGGAN PADA MARKETPLACE OLIST BRASIL
MENGGUNAKAN ALGORITMA K-MEDOIDS (CLARA)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5413" cy="385731"/>
            </a:xfrm>
            <a:custGeom>
              <a:avLst/>
              <a:gdLst/>
              <a:ahLst/>
              <a:cxnLst/>
              <a:rect l="l" t="t" r="r" b="b"/>
              <a:pathLst>
                <a:path w="3845413" h="385731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 rot="5400000">
            <a:off x="-3195310" y="2727751"/>
            <a:ext cx="10730064" cy="4831498"/>
            <a:chOff x="0" y="0"/>
            <a:chExt cx="3845413" cy="17315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845413" cy="1731500"/>
            </a:xfrm>
            <a:custGeom>
              <a:avLst/>
              <a:gdLst/>
              <a:ahLst/>
              <a:cxnLst/>
              <a:rect l="l" t="t" r="r" b="b"/>
              <a:pathLst>
                <a:path w="3845413" h="1731500">
                  <a:moveTo>
                    <a:pt x="0" y="0"/>
                  </a:moveTo>
                  <a:lnTo>
                    <a:pt x="3845413" y="0"/>
                  </a:lnTo>
                  <a:lnTo>
                    <a:pt x="3845413" y="1731500"/>
                  </a:lnTo>
                  <a:lnTo>
                    <a:pt x="0" y="1731500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3845413" cy="1779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90525" y="1028700"/>
            <a:ext cx="8769096" cy="1354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0" i="0">
                <a:solidFill>
                  <a:srgbClr val="403E3E"/>
                </a:solidFill>
                <a:latin typeface="Inter"/>
              </a:rPr>
              <a:t>2. Model Analyst &amp; Strategist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61995"/>
            <a:ext cx="3994099" cy="270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0" i="0">
                <a:solidFill>
                  <a:srgbClr val="403E3E"/>
                </a:solidFill>
                <a:latin typeface="Inter"/>
              </a:rPr>
              <a:t>Algoritma CLARA &amp; PCA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0504" y="1028700"/>
            <a:ext cx="12401092" cy="7755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>
                <a:solidFill>
                  <a:srgbClr val="403E3E"/>
                </a:solidFill>
                <a:latin typeface="Inter"/>
              </a:defRPr>
            </a:pPr>
            <a:r>
              <a:t>A. Implementasi Klastering Skala Besar</a:t>
            </a:r>
          </a:p>
          <a:p>
            <a:pPr>
              <a:spcAft>
                <a:spcPts val="1200"/>
              </a:spcAft>
              <a:defRPr sz="2800">
                <a:solidFill>
                  <a:srgbClr val="403E3E"/>
                </a:solidFill>
                <a:latin typeface="Inter"/>
              </a:defRPr>
            </a:pPr>
            <a:r>
              <a:t>Mengapa CLARA? CLARA (Clustering Large Applications) merupakan varian K-Medoids yang efisien untuk big data, menggunakan sampling acak untuk meminimalkan beban memori.</a:t>
            </a:r>
          </a:p>
          <a:p>
            <a:pPr>
              <a:spcAft>
                <a:spcPts val="1200"/>
              </a:spcAft>
              <a:defRPr sz="2800">
                <a:solidFill>
                  <a:srgbClr val="403E3E"/>
                </a:solidFill>
                <a:latin typeface="Inter"/>
              </a:defRPr>
            </a:pPr>
            <a:r>
              <a:t>Visualisasi PCA: Fitur RFM direduksi menjadi 2 dimensi utama untuk disajikan secara spasial, memperlihatkan batas kluster yang terpisah dengan jelas.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5413" cy="385731"/>
            </a:xfrm>
            <a:custGeom>
              <a:avLst/>
              <a:gdLst/>
              <a:ahLst/>
              <a:cxnLst/>
              <a:rect l="l" t="t" r="r" b="b"/>
              <a:pathLst>
                <a:path w="3845413" h="385731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506330" y="8951595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r>
              <a:rPr sz="1800">
                <a:solidFill>
                  <a:srgbClr val="403E3E"/>
                </a:solidFill>
                <a:latin typeface="Inter"/>
              </a:rPr>
              <a:t>PAGE 3</a:t>
            </a:r>
          </a:p>
        </p:txBody>
      </p:sp>
      <p:grpSp>
        <p:nvGrpSpPr>
          <p:cNvPr id="15" name="Group 15"/>
          <p:cNvGrpSpPr/>
          <p:nvPr/>
        </p:nvGrpSpPr>
        <p:grpSpPr>
          <a:xfrm rot="5400000">
            <a:off x="-3195310" y="2727751"/>
            <a:ext cx="10730064" cy="4831498"/>
            <a:chOff x="0" y="0"/>
            <a:chExt cx="3845413" cy="17315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845413" cy="1731500"/>
            </a:xfrm>
            <a:custGeom>
              <a:avLst/>
              <a:gdLst/>
              <a:ahLst/>
              <a:cxnLst/>
              <a:rect l="l" t="t" r="r" b="b"/>
              <a:pathLst>
                <a:path w="3845413" h="1731500">
                  <a:moveTo>
                    <a:pt x="0" y="0"/>
                  </a:moveTo>
                  <a:lnTo>
                    <a:pt x="3845413" y="0"/>
                  </a:lnTo>
                  <a:lnTo>
                    <a:pt x="3845413" y="1731500"/>
                  </a:lnTo>
                  <a:lnTo>
                    <a:pt x="0" y="1731500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3845413" cy="1779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90525" y="1028700"/>
            <a:ext cx="8769096" cy="1354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0" i="0">
                <a:solidFill>
                  <a:srgbClr val="403E3E"/>
                </a:solidFill>
                <a:latin typeface="Inter"/>
              </a:rPr>
              <a:t>2. Model Analyst &amp; Strategist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61995"/>
            <a:ext cx="3994099" cy="270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0" i="0">
                <a:solidFill>
                  <a:srgbClr val="403E3E"/>
                </a:solidFill>
                <a:latin typeface="Inter"/>
              </a:rPr>
              <a:t>Karakteristik Profil Segmen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0504" y="1028700"/>
            <a:ext cx="12401092" cy="7755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>
                <a:solidFill>
                  <a:srgbClr val="403E3E"/>
                </a:solidFill>
                <a:latin typeface="Inter"/>
              </a:defRPr>
            </a:pPr>
            <a:r>
              <a:t>A. Profiling &amp; Labeling Pelanggan (K=4)</a:t>
            </a:r>
          </a:p>
          <a:p>
            <a:pPr>
              <a:spcAft>
                <a:spcPts val="1200"/>
              </a:spcAft>
              <a:defRPr sz="2600">
                <a:solidFill>
                  <a:srgbClr val="403E3E"/>
                </a:solidFill>
                <a:latin typeface="Inter"/>
              </a:defRPr>
            </a:pPr>
            <a:r>
              <a:t>Kluster 0 - Lost Customers (Rasio Recency sangat lama, Frekuensi belanja rendah, Pengeluaran sangat murah).</a:t>
            </a:r>
          </a:p>
          <a:p>
            <a:pPr>
              <a:spcAft>
                <a:spcPts val="1200"/>
              </a:spcAft>
              <a:defRPr sz="2600">
                <a:solidFill>
                  <a:srgbClr val="403E3E"/>
                </a:solidFill>
                <a:latin typeface="Inter"/>
              </a:defRPr>
            </a:pPr>
            <a:r>
              <a:t>Kluster 1 - Loyal High-Spenders (Recency baru, Frekuensi sangat sering belanja, Nominal belanja besar - Segmen Premium).</a:t>
            </a:r>
          </a:p>
          <a:p>
            <a:pPr>
              <a:spcAft>
                <a:spcPts val="1200"/>
              </a:spcAft>
              <a:defRPr sz="2600">
                <a:solidFill>
                  <a:srgbClr val="403E3E"/>
                </a:solidFill>
                <a:latin typeface="Inter"/>
              </a:defRPr>
            </a:pPr>
            <a:r>
              <a:t>Kluster 2 - New/Recent Shoppers (Baru bertransaksi, Frekuensi rendah, Nominal belanja murah).</a:t>
            </a:r>
          </a:p>
          <a:p>
            <a:pPr>
              <a:spcAft>
                <a:spcPts val="1200"/>
              </a:spcAft>
              <a:defRPr sz="2600">
                <a:solidFill>
                  <a:srgbClr val="403E3E"/>
                </a:solidFill>
                <a:latin typeface="Inter"/>
              </a:defRPr>
            </a:pPr>
            <a:r>
              <a:t>Kluster 3 - At-Risk High-Spenders (Dulu sering belanja nominal besar, namun sudah sangat lama tidak aktif belanja).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5413" cy="385731"/>
            </a:xfrm>
            <a:custGeom>
              <a:avLst/>
              <a:gdLst/>
              <a:ahLst/>
              <a:cxnLst/>
              <a:rect l="l" t="t" r="r" b="b"/>
              <a:pathLst>
                <a:path w="3845413" h="385731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506330" y="8951595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r>
              <a:rPr sz="1800">
                <a:solidFill>
                  <a:srgbClr val="403E3E"/>
                </a:solidFill>
                <a:latin typeface="Inter"/>
              </a:rPr>
              <a:t>PAGE 4</a:t>
            </a:r>
          </a:p>
        </p:txBody>
      </p:sp>
      <p:grpSp>
        <p:nvGrpSpPr>
          <p:cNvPr id="15" name="Group 15"/>
          <p:cNvGrpSpPr/>
          <p:nvPr/>
        </p:nvGrpSpPr>
        <p:grpSpPr>
          <a:xfrm rot="5400000">
            <a:off x="-3195310" y="2727751"/>
            <a:ext cx="10730064" cy="4831498"/>
            <a:chOff x="0" y="0"/>
            <a:chExt cx="3845413" cy="17315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845413" cy="1731500"/>
            </a:xfrm>
            <a:custGeom>
              <a:avLst/>
              <a:gdLst/>
              <a:ahLst/>
              <a:cxnLst/>
              <a:rect l="l" t="t" r="r" b="b"/>
              <a:pathLst>
                <a:path w="3845413" h="1731500">
                  <a:moveTo>
                    <a:pt x="0" y="0"/>
                  </a:moveTo>
                  <a:lnTo>
                    <a:pt x="3845413" y="0"/>
                  </a:lnTo>
                  <a:lnTo>
                    <a:pt x="3845413" y="1731500"/>
                  </a:lnTo>
                  <a:lnTo>
                    <a:pt x="0" y="1731500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3845413" cy="1779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90525" y="1028700"/>
            <a:ext cx="8769096" cy="1354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0" i="0">
                <a:solidFill>
                  <a:srgbClr val="403E3E"/>
                </a:solidFill>
                <a:latin typeface="Inter"/>
              </a:rPr>
              <a:t>2. Model Analyst &amp; Strategist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61995"/>
            <a:ext cx="3994099" cy="270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0" i="0">
                <a:solidFill>
                  <a:srgbClr val="403E3E"/>
                </a:solidFill>
                <a:latin typeface="Inter"/>
              </a:rPr>
              <a:t>Uji Kestabilan Segmentasi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0504" y="1028700"/>
            <a:ext cx="12401092" cy="7755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>
                <a:solidFill>
                  <a:srgbClr val="403E3E"/>
                </a:solidFill>
                <a:latin typeface="Inter"/>
              </a:defRPr>
            </a:pPr>
            <a:r>
              <a:t>A. Uji Stabilitas dengan Jaccard Index</a:t>
            </a:r>
          </a:p>
          <a:p>
            <a:pPr>
              <a:spcAft>
                <a:spcPts val="1200"/>
              </a:spcAft>
              <a:defRPr sz="2800">
                <a:solidFill>
                  <a:srgbClr val="403E3E"/>
                </a:solidFill>
                <a:latin typeface="Inter"/>
              </a:defRPr>
            </a:pPr>
            <a:r>
              <a:t>Metode Pengujian: Menambahkan noise acak (derau 1%) pada fitur RFM untuk melihat konsistensi keanggotaan kluster.</a:t>
            </a:r>
          </a:p>
          <a:p>
            <a:pPr>
              <a:spcAft>
                <a:spcPts val="1200"/>
              </a:spcAft>
              <a:defRPr sz="2800">
                <a:solidFill>
                  <a:srgbClr val="403E3E"/>
                </a:solidFill>
                <a:latin typeface="Inter"/>
              </a:defRPr>
            </a:pPr>
            <a:r>
              <a:t>Hasil Indeks Jaccard: Diperoleh skor rata-rata Jaccard 0.95+ pada seluruh kluster.</a:t>
            </a:r>
          </a:p>
          <a:p>
            <a:pPr>
              <a:spcAft>
                <a:spcPts val="1200"/>
              </a:spcAft>
              <a:defRPr sz="2800">
                <a:solidFill>
                  <a:srgbClr val="403E3E"/>
                </a:solidFill>
                <a:latin typeface="Inter"/>
              </a:defRPr>
            </a:pPr>
            <a:r>
              <a:t>Kesimpulan: Segmentasi model CLARA sangat stabil dan memiliki validitas tinggi, aman digunakan sebagai acuan jangka panjang.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5413" cy="385731"/>
            </a:xfrm>
            <a:custGeom>
              <a:avLst/>
              <a:gdLst/>
              <a:ahLst/>
              <a:cxnLst/>
              <a:rect l="l" t="t" r="r" b="b"/>
              <a:pathLst>
                <a:path w="3845413" h="385731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506330" y="8951595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r>
              <a:rPr sz="1800">
                <a:solidFill>
                  <a:srgbClr val="403E3E"/>
                </a:solidFill>
                <a:latin typeface="Inter"/>
              </a:rPr>
              <a:t>PAGE 5</a:t>
            </a:r>
          </a:p>
        </p:txBody>
      </p:sp>
      <p:grpSp>
        <p:nvGrpSpPr>
          <p:cNvPr id="15" name="Group 15"/>
          <p:cNvGrpSpPr/>
          <p:nvPr/>
        </p:nvGrpSpPr>
        <p:grpSpPr>
          <a:xfrm rot="5400000">
            <a:off x="-3195310" y="2727751"/>
            <a:ext cx="10730064" cy="4831498"/>
            <a:chOff x="0" y="0"/>
            <a:chExt cx="3845413" cy="17315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845413" cy="1731500"/>
            </a:xfrm>
            <a:custGeom>
              <a:avLst/>
              <a:gdLst/>
              <a:ahLst/>
              <a:cxnLst/>
              <a:rect l="l" t="t" r="r" b="b"/>
              <a:pathLst>
                <a:path w="3845413" h="1731500">
                  <a:moveTo>
                    <a:pt x="0" y="0"/>
                  </a:moveTo>
                  <a:lnTo>
                    <a:pt x="3845413" y="0"/>
                  </a:lnTo>
                  <a:lnTo>
                    <a:pt x="3845413" y="1731500"/>
                  </a:lnTo>
                  <a:lnTo>
                    <a:pt x="0" y="1731500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3845413" cy="1779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90525" y="1028700"/>
            <a:ext cx="8769096" cy="1354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0" i="0">
                <a:solidFill>
                  <a:srgbClr val="403E3E"/>
                </a:solidFill>
                <a:latin typeface="Inter"/>
              </a:rPr>
              <a:t>2. Model Analyst &amp; Strategist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61995"/>
            <a:ext cx="3994099" cy="270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0" i="0">
                <a:solidFill>
                  <a:srgbClr val="403E3E"/>
                </a:solidFill>
                <a:latin typeface="Inter"/>
              </a:rPr>
              <a:t>Simulator &amp; Skenario Bisnis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0504" y="1028700"/>
            <a:ext cx="12401092" cy="7755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>
                <a:solidFill>
                  <a:srgbClr val="403E3E"/>
                </a:solidFill>
                <a:latin typeface="Inter"/>
              </a:defRPr>
            </a:pPr>
            <a:r>
              <a:t>A. Aplikasi Simulator &amp; Strategi Marketing</a:t>
            </a:r>
          </a:p>
          <a:p>
            <a:pPr>
              <a:spcAft>
                <a:spcPts val="1200"/>
              </a:spcAft>
              <a:defRPr sz="2600">
                <a:solidFill>
                  <a:srgbClr val="403E3E"/>
                </a:solidFill>
                <a:latin typeface="Inter"/>
              </a:defRPr>
            </a:pPr>
            <a:r>
              <a:t>Simulator: Fungsi predict_segment(r, f, m) untuk mengkategorikan pelanggan baru secara dinamis.</a:t>
            </a:r>
          </a:p>
          <a:p>
            <a:pPr>
              <a:spcAft>
                <a:spcPts val="1200"/>
              </a:spcAft>
              <a:defRPr sz="2600">
                <a:solidFill>
                  <a:srgbClr val="403E3E"/>
                </a:solidFill>
                <a:latin typeface="Inter"/>
              </a:defRPr>
            </a:pPr>
            <a:r>
              <a:t>Usulan Strategi Aksi Marketing:</a:t>
            </a:r>
          </a:p>
          <a:p>
            <a:pPr lvl="1">
              <a:spcAft>
                <a:spcPts val="1200"/>
              </a:spcAft>
              <a:defRPr sz="2200">
                <a:solidFill>
                  <a:srgbClr val="403E3E"/>
                </a:solidFill>
                <a:latin typeface="Inter"/>
              </a:defRPr>
            </a:pPr>
            <a:r>
              <a:t>- Loyal Customers -&gt; Berikan program VIP, poin loyalitas, early-access produk baru.</a:t>
            </a:r>
          </a:p>
          <a:p>
            <a:pPr lvl="1">
              <a:spcAft>
                <a:spcPts val="1200"/>
              </a:spcAft>
              <a:defRPr sz="2200">
                <a:solidFill>
                  <a:srgbClr val="403E3E"/>
                </a:solidFill>
                <a:latin typeface="Inter"/>
              </a:defRPr>
            </a:pPr>
            <a:r>
              <a:t>- At-Risk High-Spenders -&gt; Kirim email win-back dengan voucher diskon besar.</a:t>
            </a:r>
          </a:p>
          <a:p>
            <a:pPr lvl="1">
              <a:spcAft>
                <a:spcPts val="1200"/>
              </a:spcAft>
              <a:defRPr sz="2200">
                <a:solidFill>
                  <a:srgbClr val="403E3E"/>
                </a:solidFill>
                <a:latin typeface="Inter"/>
              </a:defRPr>
            </a:pPr>
            <a:r>
              <a:t>- New Shoppers -&gt; Tawarkan diskon pembelian kedua untuk meningkatkan retensi.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5413" cy="385731"/>
            </a:xfrm>
            <a:custGeom>
              <a:avLst/>
              <a:gdLst/>
              <a:ahLst/>
              <a:cxnLst/>
              <a:rect l="l" t="t" r="r" b="b"/>
              <a:pathLst>
                <a:path w="3845413" h="385731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7696504" y="3771900"/>
            <a:ext cx="7552944" cy="926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0" b="1" i="0">
                <a:solidFill>
                  <a:srgbClr val="403E3E"/>
                </a:solidFill>
                <a:latin typeface="Inter Semi-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</Words>
  <Application>WPS Presentation</Application>
  <PresentationFormat>On-screen Show (4:3)</PresentationFormat>
  <Paragraphs>14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9" baseType="lpstr">
      <vt:lpstr>Arial</vt:lpstr>
      <vt:lpstr>SimSun</vt:lpstr>
      <vt:lpstr>Wingdings</vt:lpstr>
      <vt:lpstr>DejaVu Sans</vt:lpstr>
      <vt:lpstr>Inter Bold</vt:lpstr>
      <vt:lpstr>C059</vt:lpstr>
      <vt:lpstr>Inter</vt:lpstr>
      <vt:lpstr>Inter Light</vt:lpstr>
      <vt:lpstr>Microsoft YaHei</vt:lpstr>
      <vt:lpstr>Droid Sans Fallback</vt:lpstr>
      <vt:lpstr>Arial Unicode MS</vt:lpstr>
      <vt:lpstr>Calibri</vt:lpstr>
      <vt:lpstr>Inter Semi-Bold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Cream Clean and Simple Social Media Marketing Report Presentation</dc:title>
  <dc:creator/>
  <cp:lastModifiedBy>syelha</cp:lastModifiedBy>
  <cp:revision>3</cp:revision>
  <dcterms:created xsi:type="dcterms:W3CDTF">2026-06-11T06:43:12Z</dcterms:created>
  <dcterms:modified xsi:type="dcterms:W3CDTF">2026-06-11T06:43:12Z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