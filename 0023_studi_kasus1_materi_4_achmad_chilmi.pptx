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  <p:sldId id="257" r:id="rId4"/>
    <p:sldId id="266" r:id="rId5"/>
    <p:sldId id="267" r:id="rId6"/>
    <p:sldId id="268" r:id="rId15"/>
    <p:sldId id="269" r:id="rId16"/>
    <p:sldId id="258" r:id="rId7"/>
  </p:sldIdLst>
  <p:sldSz cx="18288000" cy="10287000"/>
  <p:notesSz cx="6858000" cy="9144000"/>
  <p:embeddedFontLst>
    <p:embeddedFont>
      <p:font typeface="Inter Bold" panose="020B0802030000000004" charset="0"/>
      <p:regular r:id="rId11"/>
    </p:embeddedFont>
    <p:embeddedFont>
      <p:font typeface="Inter" panose="020B0502030000000004" charset="0"/>
      <p:regular r:id="rId12"/>
    </p:embeddedFont>
    <p:embeddedFont>
      <p:font typeface="Inter Light" panose="02000503000000020004" charset="0"/>
      <p:regular r:id="rId13"/>
    </p:embeddedFont>
    <p:embeddedFont>
      <p:font typeface="Inter Semi-Bold" panose="02000503000000020004" charset="0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38"/>
        <p:guide pos="288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7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slide" Target="slides/slide5.xml"/><Relationship Id="rId16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svg"/><Relationship Id="rId3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70531" y="4636453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5" name="Group 5"/>
          <p:cNvGrpSpPr/>
          <p:nvPr/>
        </p:nvGrpSpPr>
        <p:grpSpPr>
          <a:xfrm rot="5400000">
            <a:off x="-2207895" y="1864995"/>
            <a:ext cx="10730230" cy="6619240"/>
            <a:chOff x="0" y="0"/>
            <a:chExt cx="3845413" cy="213429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845413" cy="2134298"/>
            </a:xfrm>
            <a:custGeom>
              <a:avLst/>
              <a:gdLst/>
              <a:ahLst/>
              <a:cxnLst/>
              <a:rect l="l" t="t" r="r" b="b"/>
              <a:pathLst>
                <a:path w="3845413" h="2134298">
                  <a:moveTo>
                    <a:pt x="0" y="0"/>
                  </a:moveTo>
                  <a:lnTo>
                    <a:pt x="3845413" y="0"/>
                  </a:lnTo>
                  <a:lnTo>
                    <a:pt x="3845413" y="2134298"/>
                  </a:lnTo>
                  <a:lnTo>
                    <a:pt x="0" y="2134298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3845413" cy="218192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8" name="Freeform 8"/>
          <p:cNvSpPr/>
          <p:nvPr/>
        </p:nvSpPr>
        <p:spPr>
          <a:xfrm>
            <a:off x="5234940" y="1031240"/>
            <a:ext cx="1250950" cy="1520825"/>
          </a:xfrm>
          <a:custGeom>
            <a:avLst/>
            <a:gdLst/>
            <a:ahLst/>
            <a:cxnLst/>
            <a:rect l="l" t="t" r="r" b="b"/>
            <a:pathLst>
              <a:path w="948381" h="1520727">
                <a:moveTo>
                  <a:pt x="0" y="0"/>
                </a:moveTo>
                <a:lnTo>
                  <a:pt x="948381" y="0"/>
                </a:lnTo>
                <a:lnTo>
                  <a:pt x="948381" y="1520727"/>
                </a:lnTo>
                <a:lnTo>
                  <a:pt x="0" y="1520727"/>
                </a:lnTo>
                <a:lnTo>
                  <a:pt x="0" y="0"/>
                </a:lnTo>
                <a:close/>
              </a:path>
            </a:pathLst>
          </a:custGeom>
          <a:blipFill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r">
              <a:lnSpc>
                <a:spcPts val="2520"/>
              </a:lnSpc>
              <a:spcBef>
                <a:spcPct val="0"/>
              </a:spcBef>
            </a:pPr>
            <a:r>
              <a:rPr lang="en-US" sz="1800" spc="-72">
                <a:solidFill>
                  <a:srgbClr val="403E3E"/>
                </a:solidFill>
                <a:latin typeface="Inter"/>
                <a:ea typeface="Inter"/>
                <a:cs typeface="Inter"/>
                <a:sym typeface="Inter"/>
              </a:rPr>
              <a:t>PAGE 1</a:t>
            </a:r>
            <a:endParaRPr lang="en-US" sz="1800" spc="-72">
              <a:solidFill>
                <a:srgbClr val="403E3E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8377573" y="1214332"/>
            <a:ext cx="6213575" cy="755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4400" b="1">
                <a:solidFill>
                  <a:srgbClr val="403E3E"/>
                </a:solidFill>
                <a:latin typeface="Inter Bold"/>
              </a:rPr>
              <a:t>MATERI 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77573" y="2202611"/>
            <a:ext cx="6213575" cy="6229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sz="3600" b="1">
                <a:solidFill>
                  <a:srgbClr val="403E3E"/>
                </a:solidFill>
                <a:latin typeface="Inter Bold"/>
              </a:rPr>
              <a:t>STUDI KASUS NO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" y="2666390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ACHMAD CHILMI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" y="3747211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2313020023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" y="472470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3-A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" y="5875934"/>
            <a:ext cx="6213348" cy="6227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403E3E"/>
                </a:solidFill>
                <a:latin typeface="Inter Bold"/>
              </a:rPr>
              <a:t>PEMODELAN &amp; SIMULASI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4926" y="3915460"/>
            <a:ext cx="9486900" cy="451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 i="0">
                <a:solidFill>
                  <a:srgbClr val="403E3E"/>
                </a:solidFill>
                <a:latin typeface="Inter Bold"/>
              </a:rPr>
              <a:t>SIMULASI SEGMENTASI PELANGGAN PADA MARKETPLACE OLIST BRASIL
MENGGUNAKAN ALGORITMA K-MEDOIDS (CLARA)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Algoritma CLARA &amp; Reduksi PCA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Mengapa CLARA? CLARA (Clustering Large Applications) dipilih karena merupakan modifikasi algoritma K-Medoids yang efisien untuk big data dengan metode penarikan sampel acak berulang.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K-Medoids Keunggulan: Lebih tangguh terhadap outliers dibandingkan K-Means karena representasi pusat kluster berupa data riil (medoids).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Reduksi Dimensi PCA: Menggunakan Principal Component Analysis (PCA) untuk mereduksi 3 fitur RFM menjadi 2 dimensi visual demi verifikasi pemisahan batas kluster.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3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Karakteristik 4 Profil Segmen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403E3E"/>
                </a:solidFill>
                <a:latin typeface="Inter"/>
              </a:defRPr>
            </a:pPr>
            <a:r>
              <a:t>Profiling Hasil K=4: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Kluster 0 - Lost Customers: Pelanggan lama tidak belanja, frekuensi rendah, nominal belanja sangat murah.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Kluster 1 - Loyal High-Spenders: Belanja baru-baru ini, sangat sering belanja, total belanjaan bernilai besar (Segmen Premium).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Kluster 2 - New/Recent Shoppers: Baru bertransaksi akhir-akhir ini, frekuensi rendah, belanja nominal murah.</a:t>
            </a:r>
          </a:p>
          <a:p>
            <a:pPr lvl="1">
              <a:spcAft>
                <a:spcPts val="1200"/>
              </a:spcAft>
              <a:defRPr sz="2000">
                <a:solidFill>
                  <a:srgbClr val="403E3E"/>
                </a:solidFill>
                <a:latin typeface="Inter"/>
              </a:defRPr>
            </a:pPr>
            <a:r>
              <a:t>- Kluster 3 - At-Risk High-Spenders: Dulu sering belanja nominal besar, namun sekarang sudah sangat lama tidak aktif bertransaksi.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E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4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Uji Stabilitas Segmen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Pengujian Kestabilan: Menerapkan uji stabilitas segmentasi dengan menyuntikkan derau acak (noise 1%) ke dalam data masukan RFM.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Hasil Uji Jaccard Index: Rata-rata nilai kemiripan segmen (Jaccard Score) mencapai 0.95+ pada seluruh kluster.</a:t>
            </a:r>
          </a:p>
          <a:p>
            <a:pPr>
              <a:spcAft>
                <a:spcPts val="1200"/>
              </a:spcAft>
              <a:defRPr sz="2800">
                <a:solidFill>
                  <a:srgbClr val="403E3E"/>
                </a:solidFill>
                <a:latin typeface="Inter"/>
              </a:defRPr>
            </a:pPr>
            <a:r>
              <a:t>Kesimpulan: Segmentasi model CLARA terbukti memiliki kestabilan yang sangat tinggi dan tidak rentan terhadap perubahan data kecil.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5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Simulator Segmentasi Pelanggan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Implementasi Simulator: Fungsi interaktif predict_segment(recency, frequency, monetary) untuk mengklasifikasikan data pelanggan baru.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Contoh Eksekusi: Pelanggan baru dengan input (R=5 hari, F=10 kali, M=2000 BRL) langsung diidentifikasi secara otomatis ke dalam Kluster 1 (Loyal High-Spenders).</a:t>
            </a:r>
          </a:p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Nilai Bisnis: Membantu manajer CRM mengotomatisasi segmentasi pelanggan langsung dari dashboard pemasaran.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5506330" y="8951595"/>
            <a:ext cx="152400" cy="190500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r>
              <a:rPr sz="1800">
                <a:solidFill>
                  <a:srgbClr val="403E3E"/>
                </a:solidFill>
                <a:latin typeface="Inter"/>
              </a:rPr>
              <a:t>PAGE 6</a:t>
            </a:r>
          </a:p>
        </p:txBody>
      </p:sp>
      <p:grpSp>
        <p:nvGrpSpPr>
          <p:cNvPr id="15" name="Group 15"/>
          <p:cNvGrpSpPr/>
          <p:nvPr/>
        </p:nvGrpSpPr>
        <p:grpSpPr>
          <a:xfrm rot="5400000">
            <a:off x="-3195310" y="2727751"/>
            <a:ext cx="10730064" cy="4831498"/>
            <a:chOff x="0" y="0"/>
            <a:chExt cx="3845413" cy="17315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845413" cy="1731500"/>
            </a:xfrm>
            <a:custGeom>
              <a:avLst/>
              <a:gdLst/>
              <a:ahLst/>
              <a:cxnLst/>
              <a:rect l="l" t="t" r="r" b="b"/>
              <a:pathLst>
                <a:path w="3845413" h="1731500">
                  <a:moveTo>
                    <a:pt x="0" y="0"/>
                  </a:moveTo>
                  <a:lnTo>
                    <a:pt x="3845413" y="0"/>
                  </a:lnTo>
                  <a:lnTo>
                    <a:pt x="3845413" y="1731500"/>
                  </a:lnTo>
                  <a:lnTo>
                    <a:pt x="0" y="1731500"/>
                  </a:lnTo>
                  <a:close/>
                </a:path>
              </a:pathLst>
            </a:custGeom>
            <a:solidFill>
              <a:srgbClr val="F6F5F3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3845413" cy="1779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90525" y="1028700"/>
            <a:ext cx="8769096" cy="1354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2. Model Analyst &amp; Strategist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161995"/>
            <a:ext cx="3994099" cy="270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0" i="0">
                <a:solidFill>
                  <a:srgbClr val="403E3E"/>
                </a:solidFill>
                <a:latin typeface="Inter"/>
              </a:rPr>
              <a:t>Strategi CRM Tersegmentasi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0504" y="1028700"/>
            <a:ext cx="12401092" cy="7755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600">
                <a:solidFill>
                  <a:srgbClr val="403E3E"/>
                </a:solidFill>
                <a:latin typeface="Inter"/>
              </a:defRPr>
            </a:pPr>
            <a:r>
              <a:t>Strategi CRM Berdasarkan Segmen:</a:t>
            </a:r>
          </a:p>
          <a:p>
            <a:pPr lvl="1">
              <a:spcAft>
                <a:spcPts val="1200"/>
              </a:spcAft>
              <a:defRPr sz="2200">
                <a:solidFill>
                  <a:srgbClr val="403E3E"/>
                </a:solidFill>
                <a:latin typeface="Inter"/>
              </a:defRPr>
            </a:pPr>
            <a:r>
              <a:t>- Loyal High-Spenders: Akses VIP, poin loyalitas khusus, penawaran produk eksklusif.</a:t>
            </a:r>
          </a:p>
          <a:p>
            <a:pPr lvl="1">
              <a:spcAft>
                <a:spcPts val="1200"/>
              </a:spcAft>
              <a:defRPr sz="2200">
                <a:solidFill>
                  <a:srgbClr val="403E3E"/>
                </a:solidFill>
                <a:latin typeface="Inter"/>
              </a:defRPr>
            </a:pPr>
            <a:r>
              <a:t>- At-Risk High-Spenders: Kampanye win-back email pribadi dengan voucher diskon bernilai besar.</a:t>
            </a:r>
          </a:p>
          <a:p>
            <a:pPr lvl="1">
              <a:spcAft>
                <a:spcPts val="1200"/>
              </a:spcAft>
              <a:defRPr sz="2200">
                <a:solidFill>
                  <a:srgbClr val="403E3E"/>
                </a:solidFill>
                <a:latin typeface="Inter"/>
              </a:defRPr>
            </a:pPr>
            <a:r>
              <a:t>- New Shoppers: Kupon potongan harga untuk pembelian kedua guna mendorong retensi berkelanjutan.</a:t>
            </a:r>
          </a:p>
          <a:p>
            <a:pPr lvl="1">
              <a:spcAft>
                <a:spcPts val="1200"/>
              </a:spcAft>
              <a:defRPr sz="2200">
                <a:solidFill>
                  <a:srgbClr val="403E3E"/>
                </a:solidFill>
                <a:latin typeface="Inter"/>
              </a:defRPr>
            </a:pPr>
            <a:r>
              <a:t>- Lost Customers: Email pengingat otomatis dengan produk terlaris bertarif rendah.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5400000">
            <a:off x="12432431" y="4605338"/>
            <a:ext cx="10730064" cy="1076325"/>
            <a:chOff x="0" y="0"/>
            <a:chExt cx="3845413" cy="3857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45413" cy="385731"/>
            </a:xfrm>
            <a:custGeom>
              <a:avLst/>
              <a:gdLst/>
              <a:ahLst/>
              <a:cxnLst/>
              <a:rect l="l" t="t" r="r" b="b"/>
              <a:pathLst>
                <a:path w="3845413" h="385731">
                  <a:moveTo>
                    <a:pt x="0" y="0"/>
                  </a:moveTo>
                  <a:lnTo>
                    <a:pt x="3845413" y="0"/>
                  </a:lnTo>
                  <a:lnTo>
                    <a:pt x="3845413" y="385731"/>
                  </a:lnTo>
                  <a:lnTo>
                    <a:pt x="0" y="385731"/>
                  </a:lnTo>
                  <a:close/>
                </a:path>
              </a:pathLst>
            </a:custGeom>
            <a:solidFill>
              <a:srgbClr val="FDFDFA"/>
            </a:solidFill>
            <a:ln w="9525" cap="sq">
              <a:solidFill>
                <a:srgbClr val="403E3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845413" cy="43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7696504" y="3771900"/>
            <a:ext cx="7552944" cy="926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0" b="1" i="0">
                <a:solidFill>
                  <a:srgbClr val="403E3E"/>
                </a:solidFill>
                <a:latin typeface="Inter Semi-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85</Words>
  <Application>WPS Presentation</Application>
  <PresentationFormat>On-screen Show (4:3)</PresentationFormat>
  <Paragraphs>14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DejaVu Sans</vt:lpstr>
      <vt:lpstr>Inter Bold</vt:lpstr>
      <vt:lpstr>C059</vt:lpstr>
      <vt:lpstr>Inter</vt:lpstr>
      <vt:lpstr>Inter Light</vt:lpstr>
      <vt:lpstr>Microsoft YaHei</vt:lpstr>
      <vt:lpstr>Droid Sans Fallback</vt:lpstr>
      <vt:lpstr>Arial Unicode MS</vt:lpstr>
      <vt:lpstr>Calibri</vt:lpstr>
      <vt:lpstr>Inter Semi-Bold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 and Cream Clean and Simple Social Media Marketing Report Presentation</dc:title>
  <dc:creator/>
  <cp:lastModifiedBy>syelha</cp:lastModifiedBy>
  <cp:revision>3</cp:revision>
  <dcterms:created xsi:type="dcterms:W3CDTF">2026-06-11T06:43:12Z</dcterms:created>
  <dcterms:modified xsi:type="dcterms:W3CDTF">2026-06-11T06:43:12Z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